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AFAFA"/>
                </a:solidFill>
                <a:latin typeface="Georgia"/>
              </a:defRPr>
            </a:pPr>
            <a:r>
              <a:t>Building a Local AI Chatbot</a:t>
            </a:r>
          </a:p>
          <a:p>
            <a:pPr>
              <a:spcAft>
                <a:spcPts val="1800"/>
              </a:spcAft>
              <a:defRPr sz="3200" b="1">
                <a:solidFill>
                  <a:srgbClr val="10B981"/>
                </a:solidFill>
                <a:latin typeface="Georgia"/>
              </a:defRPr>
            </a:pPr>
            <a:r>
              <a:t>With Streamlit, LangChain, and Ollama</a:t>
            </a:r>
          </a:p>
          <a:p>
            <a:pPr>
              <a:defRPr sz="1600">
                <a:solidFill>
                  <a:srgbClr val="64748B"/>
                </a:solidFill>
                <a:latin typeface="Verdana"/>
              </a:defRPr>
            </a:pPr>
            <a:r>
              <a:t>A Step-by-Step Technical Blueprint of a Privacy-First LLM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Verdana"/>
              </a:defRPr>
            </a:pPr>
            <a:r>
              <a:t>⚡ Local Compute   •   🔒 100% Data Privacy   •   💰 Zero API Token Fees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Verdana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Georgia"/>
              </a:defRPr>
            </a:pPr>
            <a:r>
              <a:t>Three Core Technologies Power Your Local AI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327" y="1828800"/>
            <a:ext cx="32918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 bIns="274320"/>
          <a:lstStyle/>
          <a:p>
            <a:pPr algn="ctr">
              <a:spcAft>
                <a:spcPts val="400"/>
              </a:spcAft>
              <a:defRPr sz="2200" b="1">
                <a:solidFill>
                  <a:srgbClr val="1E293B"/>
                </a:solidFill>
                <a:latin typeface="Georgia"/>
              </a:defRPr>
            </a:pPr>
            <a:r>
              <a:t>Streamlit</a:t>
            </a:r>
          </a:p>
          <a:p>
            <a:pPr>
              <a:spcAft>
                <a:spcPts val="1600"/>
              </a:spcAft>
              <a:defRPr sz="1000" b="1">
                <a:solidFill>
                  <a:srgbClr val="10B981"/>
                </a:solidFill>
                <a:latin typeface="Verdana"/>
              </a:defRPr>
            </a:pPr>
            <a:r>
              <a:t>FRONTEND USER INTERFACE</a:t>
            </a:r>
          </a:p>
          <a:p>
            <a:pPr>
              <a:spcAft>
                <a:spcPts val="1200"/>
              </a:spcAft>
              <a:defRPr>
                <a:solidFill>
                  <a:srgbClr val="10B981"/>
                </a:solidFill>
              </a:defRPr>
            </a:pPr>
            <a:r>
              <a:t>—</a:t>
            </a:r>
          </a:p>
          <a:p>
            <a:pPr>
              <a:defRPr sz="1300">
                <a:solidFill>
                  <a:srgbClr val="64748B"/>
                </a:solidFill>
                <a:latin typeface="Verdana"/>
              </a:defRPr>
            </a:pPr>
            <a:r>
              <a:t>Renders the interactive web application UI. Captures user inputs, handles real-time reruns, and displays responses cleanly without needing web development knowledge.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9927" y="1828800"/>
            <a:ext cx="32918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 bIns="274320"/>
          <a:lstStyle/>
          <a:p>
            <a:pPr algn="ctr">
              <a:spcAft>
                <a:spcPts val="400"/>
              </a:spcAft>
              <a:defRPr sz="2200" b="1">
                <a:solidFill>
                  <a:srgbClr val="1E293B"/>
                </a:solidFill>
                <a:latin typeface="Georgia"/>
              </a:defRPr>
            </a:pPr>
            <a:r>
              <a:t>LangChain</a:t>
            </a:r>
          </a:p>
          <a:p>
            <a:pPr>
              <a:spcAft>
                <a:spcPts val="1600"/>
              </a:spcAft>
              <a:defRPr sz="1000" b="1">
                <a:solidFill>
                  <a:srgbClr val="10B981"/>
                </a:solidFill>
                <a:latin typeface="Verdana"/>
              </a:defRPr>
            </a:pPr>
            <a:r>
              <a:t>ORCHESTRATION PIPELINE</a:t>
            </a:r>
          </a:p>
          <a:p>
            <a:pPr>
              <a:spcAft>
                <a:spcPts val="1200"/>
              </a:spcAft>
              <a:defRPr>
                <a:solidFill>
                  <a:srgbClr val="10B981"/>
                </a:solidFill>
              </a:defRPr>
            </a:pPr>
            <a:r>
              <a:t>—</a:t>
            </a:r>
          </a:p>
          <a:p>
            <a:pPr>
              <a:defRPr sz="1300">
                <a:solidFill>
                  <a:srgbClr val="64748B"/>
                </a:solidFill>
                <a:latin typeface="Verdana"/>
              </a:defRPr>
            </a:pPr>
            <a:r>
              <a:t>Acts as the integration glue. Uses LangChain Expression Language (LCEL) to pipe prompts, local LLM clients, and output parsers into a single unified execution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7527" y="1828800"/>
            <a:ext cx="32918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 rIns="274320" bIns="274320"/>
          <a:lstStyle/>
          <a:p>
            <a:pPr algn="ctr">
              <a:spcAft>
                <a:spcPts val="400"/>
              </a:spcAft>
              <a:defRPr sz="2200" b="1">
                <a:solidFill>
                  <a:srgbClr val="1E293B"/>
                </a:solidFill>
                <a:latin typeface="Georgia"/>
              </a:defRPr>
            </a:pPr>
            <a:r>
              <a:t>Ollama / Gemma 2</a:t>
            </a:r>
          </a:p>
          <a:p>
            <a:pPr>
              <a:spcAft>
                <a:spcPts val="1600"/>
              </a:spcAft>
              <a:defRPr sz="1000" b="1">
                <a:solidFill>
                  <a:srgbClr val="10B981"/>
                </a:solidFill>
                <a:latin typeface="Verdana"/>
              </a:defRPr>
            </a:pPr>
            <a:r>
              <a:t>LOCAL MODEL ENGINE</a:t>
            </a:r>
          </a:p>
          <a:p>
            <a:pPr>
              <a:spcAft>
                <a:spcPts val="1200"/>
              </a:spcAft>
              <a:defRPr>
                <a:solidFill>
                  <a:srgbClr val="10B981"/>
                </a:solidFill>
              </a:defRPr>
            </a:pPr>
            <a:r>
              <a:t>—</a:t>
            </a:r>
          </a:p>
          <a:p>
            <a:pPr>
              <a:defRPr sz="1300">
                <a:solidFill>
                  <a:srgbClr val="64748B"/>
                </a:solidFill>
                <a:latin typeface="Verdana"/>
              </a:defRPr>
            </a:pPr>
            <a:r>
              <a:t>Hosts and runs Google's Gemma 2 model locally on your hardware. Eliminates cloud dependencies, guarantees complete privacy, and runs without token or subscription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Verdana"/>
              </a:defRPr>
            </a:pPr>
            <a:r>
              <a:t>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Georgia"/>
              </a:defRPr>
            </a:pPr>
            <a:r>
              <a:t>System Prompts Define the AI's Persona with Two Message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365760" bIns="365760"/>
          <a:lstStyle/>
          <a:p>
            <a:pPr algn="ctr">
              <a:spcAft>
                <a:spcPts val="1200"/>
              </a:spcAft>
              <a:defRPr sz="1300" b="1">
                <a:solidFill>
                  <a:srgbClr val="10B981"/>
                </a:solidFill>
                <a:latin typeface="Courier New"/>
              </a:defRPr>
            </a:pPr>
            <a:r>
              <a:t>💻 prompt_setup.py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from langchain_core.prompts import ChatPromptTemplate</a:t>
            </a:r>
            <a:br/>
            <a:br/>
            <a:r>
              <a:t># creating my prompts</a:t>
            </a:r>
            <a:br/>
            <a:r>
              <a:t>prompt = ChatPromptTemplate.from_messages(</a:t>
            </a:r>
            <a:br/>
            <a:r>
              <a:t>    [</a:t>
            </a:r>
            <a:br/>
            <a:r>
              <a:t>        (</a:t>
            </a:r>
            <a:br/>
            <a:r>
              <a:t>            "system",</a:t>
            </a:r>
            <a:br/>
            <a:r>
              <a:t>            "you are helpful assistant,please respond to the question"</a:t>
            </a:r>
            <a:br/>
            <a:r>
              <a:t>        ),</a:t>
            </a:r>
            <a:br/>
            <a:r>
              <a:t>        (</a:t>
            </a:r>
            <a:br/>
            <a:r>
              <a:t>            "user",</a:t>
            </a:r>
            <a:br/>
            <a:r>
              <a:t>            "Question:{question}"</a:t>
            </a:r>
            <a:br/>
            <a:r>
              <a:t>        )</a:t>
            </a:r>
            <a:br/>
            <a:r>
              <a:t>    ]</a:t>
            </a:r>
            <a:br/>
            <a: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828800"/>
            <a:ext cx="5333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Georgia"/>
              </a:defRPr>
            </a:pPr>
            <a:r>
              <a:t>How Prompt Formatting Governs the Agent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1. System Message (Persona Setup): </a:t>
            </a:r>
            <a:r>
              <a:rPr sz="1350" b="0">
                <a:solidFill>
                  <a:srgbClr val="1E293B"/>
                </a:solidFill>
                <a:latin typeface="Verdana"/>
              </a:rPr>
              <a:t>Defines the fundamental identity, tone, and operational boundaries of the AI. Instructs it to behave as a 'helpful assistant' right from initialization.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2. User Message (Dynamic Input): </a:t>
            </a:r>
            <a:r>
              <a:rPr sz="1350" b="0">
                <a:solidFill>
                  <a:srgbClr val="1E293B"/>
                </a:solidFill>
                <a:latin typeface="Verdana"/>
              </a:rPr>
              <a:t>Wraps the incoming raw text with the structured 'Question:{question}' template. This safely separates user input from system instructions.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3. Variable Injection: </a:t>
            </a:r>
            <a:r>
              <a:rPr sz="1350" b="0">
                <a:solidFill>
                  <a:srgbClr val="1E293B"/>
                </a:solidFill>
                <a:latin typeface="Verdana"/>
              </a:rPr>
              <a:t>LangChain's placeholder parsing dynamically interpolates the runtime question into the prompt template without manual string concatenation.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4. Structured Arrays: </a:t>
            </a:r>
            <a:r>
              <a:rPr sz="1350" b="0">
                <a:solidFill>
                  <a:srgbClr val="1E293B"/>
                </a:solidFill>
                <a:latin typeface="Verdana"/>
              </a:rPr>
              <a:t>Using tuples in a list maintains strict chronological ordering of instructions, ensuring the model parses the system instructions before evaluating the user query.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Verdana"/>
              </a:defRPr>
            </a:pPr>
            <a:r>
              <a:t>LANGCHAIN EXPRESSION LANGUAGE (LCEL)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Georgia"/>
              </a:defRPr>
            </a:pPr>
            <a:r>
              <a:t>LCEL Chains Three Key Components into a Single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40967" y="1737360"/>
            <a:ext cx="2926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2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1. Prompt Template</a:t>
            </a:r>
          </a:p>
          <a:p>
            <a:pPr algn="ctr">
              <a:spcAft>
                <a:spcPts val="1200"/>
              </a:spcAft>
              <a:defRPr sz="900" b="1">
                <a:solidFill>
                  <a:srgbClr val="10B981"/>
                </a:solidFill>
                <a:latin typeface="Verdana"/>
              </a:defRPr>
            </a:pPr>
            <a:r>
              <a:t>FORMAT CONTEXT</a:t>
            </a:r>
          </a:p>
          <a:p>
            <a:pPr algn="ctr">
              <a:defRPr sz="1100">
                <a:solidFill>
                  <a:srgbClr val="64748B"/>
                </a:solidFill>
                <a:latin typeface="Verdana"/>
              </a:defRPr>
            </a:pPr>
            <a:r>
              <a:t>Takes raw user queries and formats them with system guidelines.</a:t>
            </a:r>
          </a:p>
        </p:txBody>
      </p:sp>
      <p:sp>
        <p:nvSpPr>
          <p:cNvPr id="5" name="Chevron 4"/>
          <p:cNvSpPr/>
          <p:nvPr/>
        </p:nvSpPr>
        <p:spPr>
          <a:xfrm>
            <a:off x="4289907" y="2560320"/>
            <a:ext cx="320040" cy="36576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2807" y="1737360"/>
            <a:ext cx="2926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2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2. Ollama / Gemma 2</a:t>
            </a:r>
          </a:p>
          <a:p>
            <a:pPr algn="ctr">
              <a:spcAft>
                <a:spcPts val="1200"/>
              </a:spcAft>
              <a:defRPr sz="900" b="1">
                <a:solidFill>
                  <a:srgbClr val="10B981"/>
                </a:solidFill>
                <a:latin typeface="Verdana"/>
              </a:defRPr>
            </a:pPr>
            <a:r>
              <a:t>MODEL INFERENCE</a:t>
            </a:r>
          </a:p>
          <a:p>
            <a:pPr algn="ctr">
              <a:defRPr sz="1100">
                <a:solidFill>
                  <a:srgbClr val="64748B"/>
                </a:solidFill>
                <a:latin typeface="Verdana"/>
              </a:defRPr>
            </a:pPr>
            <a:r>
              <a:t>Processes formatted prompts and generates text predictions.</a:t>
            </a:r>
          </a:p>
        </p:txBody>
      </p:sp>
      <p:sp>
        <p:nvSpPr>
          <p:cNvPr id="7" name="Chevron 6"/>
          <p:cNvSpPr/>
          <p:nvPr/>
        </p:nvSpPr>
        <p:spPr>
          <a:xfrm>
            <a:off x="7581747" y="2560320"/>
            <a:ext cx="320040" cy="36576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4647" y="1737360"/>
            <a:ext cx="2926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 bIns="182880"/>
          <a:lstStyle/>
          <a:p>
            <a:pPr algn="ctr">
              <a:spcAft>
                <a:spcPts val="2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3. Output Parser</a:t>
            </a:r>
          </a:p>
          <a:p>
            <a:pPr algn="ctr">
              <a:spcAft>
                <a:spcPts val="1200"/>
              </a:spcAft>
              <a:defRPr sz="900" b="1">
                <a:solidFill>
                  <a:srgbClr val="10B981"/>
                </a:solidFill>
                <a:latin typeface="Verdana"/>
              </a:defRPr>
            </a:pPr>
            <a:r>
              <a:t>STRING EXTRACTION</a:t>
            </a:r>
          </a:p>
          <a:p>
            <a:pPr algn="ctr">
              <a:defRPr sz="1100">
                <a:solidFill>
                  <a:srgbClr val="64748B"/>
                </a:solidFill>
                <a:latin typeface="Verdana"/>
              </a:defRPr>
            </a:pPr>
            <a:r>
              <a:t>Extracts clean, structured text output from the raw model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0"/>
            <a:ext cx="108200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293B"/>
                </a:solidFill>
                <a:latin typeface="Georgia"/>
              </a:defRPr>
            </a:pPr>
            <a:r>
              <a:t>How the '|' operator pipes data streams: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Declarative Assembly: </a:t>
            </a:r>
            <a:r>
              <a:rPr sz="1350" b="0">
                <a:solidFill>
                  <a:srgbClr val="1E293B"/>
                </a:solidFill>
                <a:latin typeface="Verdana"/>
              </a:rPr>
              <a:t>Using Python's bitwise OR operator '|' creates a clean and highly readable declarative pipeline, avoiding nested functional callbacks.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Type-Safe Routing: </a:t>
            </a:r>
            <a:r>
              <a:rPr sz="1350" b="0">
                <a:solidFill>
                  <a:srgbClr val="1E293B"/>
                </a:solidFill>
                <a:latin typeface="Verdana"/>
              </a:rPr>
              <a:t>LangChain automatically validates that the input schema of one component matches the output schema of the previous one, preventing runtime type mismatches.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Verdana"/>
              </a:defRPr>
            </a:pPr>
            <a:r>
              <a:t>WEB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Georgia"/>
              </a:defRPr>
            </a:pPr>
            <a:r>
              <a:t>Streamlit Renders Your Web UI in Just 10 Lines of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393192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365760" bIns="365760"/>
          <a:lstStyle/>
          <a:p>
            <a:pPr algn="ctr">
              <a:spcAft>
                <a:spcPts val="1200"/>
              </a:spcAft>
              <a:defRPr sz="1300" b="1">
                <a:solidFill>
                  <a:srgbClr val="10B981"/>
                </a:solidFill>
                <a:latin typeface="Courier New"/>
              </a:defRPr>
            </a:pPr>
            <a:r>
              <a:t>💻 streamlit_app.py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import streamlit as st</a:t>
            </a:r>
            <a:br/>
            <a:br/>
            <a:r>
              <a:t># frontend</a:t>
            </a:r>
            <a:br/>
            <a:r>
              <a:t>st.title("Chat Gpt")</a:t>
            </a:r>
            <a:br/>
            <a:r>
              <a:t>input_text = st.text_input("Ask your question!")</a:t>
            </a:r>
            <a:br/>
            <a:br/>
            <a:r>
              <a:t># invocation</a:t>
            </a:r>
            <a:br/>
            <a:r>
              <a:t>if input_text:</a:t>
            </a:r>
            <a:br/>
            <a:r>
              <a:t>    response = chain.invoke({"question": input_text})</a:t>
            </a:r>
            <a:br/>
            <a:r>
              <a:t>    st.write(response)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828800"/>
            <a:ext cx="5333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293B"/>
                </a:solidFill>
                <a:latin typeface="Georgia"/>
              </a:defRPr>
            </a:pPr>
            <a:r>
              <a:t>Streamlit's Reactive Execution Model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1. Zero Frontend Overhead: </a:t>
            </a:r>
            <a:r>
              <a:rPr sz="1350" b="0">
                <a:solidFill>
                  <a:srgbClr val="1E293B"/>
                </a:solidFill>
                <a:latin typeface="Verdana"/>
              </a:rPr>
              <a:t>You don't need to write HTML, CSS, JavaScript, or set up separate API servers. Streamlit lets you build reactive user interfaces strictly in Python.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2. st.title() &amp; st.text_input(): </a:t>
            </a:r>
            <a:r>
              <a:rPr sz="1350" b="0">
                <a:solidFill>
                  <a:srgbClr val="1E293B"/>
                </a:solidFill>
                <a:latin typeface="Verdana"/>
              </a:rPr>
              <a:t>st.title() sets up a responsive header. st.text_input() renders a text box that listens for user inputs and automatically triggers script execution upon pressing Enter.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3. Conditional Invocation: </a:t>
            </a:r>
            <a:r>
              <a:rPr sz="1350" b="0">
                <a:solidFill>
                  <a:srgbClr val="1E293B"/>
                </a:solidFill>
                <a:latin typeface="Verdana"/>
              </a:rPr>
              <a:t>The block 'if input_text:' ensures that the LangChain LLM chain only fires when there is actual text in the input box, preventing empty or null queries on page load.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350" b="1">
                <a:solidFill>
                  <a:srgbClr val="1E293B"/>
                </a:solidFill>
                <a:latin typeface="Verdana"/>
              </a:rPr>
              <a:t>4. st.write() Response Rendering: </a:t>
            </a:r>
            <a:r>
              <a:rPr sz="1350" b="0">
                <a:solidFill>
                  <a:srgbClr val="1E293B"/>
                </a:solidFill>
                <a:latin typeface="Verdana"/>
              </a:rPr>
              <a:t>A swiss-army knife function that takes raw markdown responses from LangChain and formats them beautifully on-screen, including support for code blocks, lists, and bold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Verdana"/>
              </a:defRPr>
            </a:pPr>
            <a:r>
              <a:t>HOSTING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Georgia"/>
              </a:defRPr>
            </a:pPr>
            <a:r>
              <a:t>Ollama Runs Gemma 2 Locally to Guarantee Complete Data Privacy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737360"/>
          <a:ext cx="1080820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52544"/>
                <a:gridCol w="4352544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AFAFA"/>
                          </a:solidFill>
                          <a:latin typeface="Verdana"/>
                        </a:rPr>
                        <a:t>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A"/>
                          </a:solidFill>
                          <a:latin typeface="Verdana"/>
                        </a:rPr>
                        <a:t>LOCAL OLLAMA / GEMMA 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AFAFA"/>
                          </a:solidFill>
                          <a:latin typeface="Verdana"/>
                        </a:rPr>
                        <a:t>CLOUD-BASED LLM APIS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Verdana"/>
                        </a:rPr>
                        <a:t>Data Privacy</a:t>
                      </a:r>
                    </a:p>
                  </a:txBody>
                  <a:tcPr marT="101600" marB="101600" marL="127000" marR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Verdana"/>
                        </a:rPr>
                        <a:t>100% Local. No user prompts, system metrics, or sensitive data ever leave your physical device.</a:t>
                      </a:r>
                    </a:p>
                  </a:txBody>
                  <a:tcPr marT="101600" marB="101600" marL="127000" marR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64748B"/>
                          </a:solidFill>
                          <a:latin typeface="Verdana"/>
                        </a:rPr>
                        <a:t>Data sent to external cloud servers. Subject to third-party privacy policies and data retention rules.</a:t>
                      </a:r>
                    </a:p>
                  </a:txBody>
                  <a:tcPr marT="101600" marB="101600" marL="127000" marR="1270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Verdana"/>
                        </a:rPr>
                        <a:t>Cost Model</a:t>
                      </a:r>
                    </a:p>
                  </a:txBody>
                  <a:tcPr marT="101600" marB="101600" marL="127000" marR="127000">
                    <a:solidFill>
                      <a:srgbClr val="EA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Verdana"/>
                        </a:rPr>
                        <a:t>Free and unlimited. Operates using local CPU/GPU compute with zero subscription or pay-per-token API fees.</a:t>
                      </a:r>
                    </a:p>
                  </a:txBody>
                  <a:tcPr marT="101600" marB="101600" marL="127000" marR="127000">
                    <a:solidFill>
                      <a:srgbClr val="EA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64748B"/>
                          </a:solidFill>
                          <a:latin typeface="Verdana"/>
                        </a:rPr>
                        <a:t>Variable pay-per-token pricing. High volume can lead to unpredictable, runaway operational expenses.</a:t>
                      </a:r>
                    </a:p>
                  </a:txBody>
                  <a:tcPr marT="101600" marB="101600" marL="127000" marR="127000">
                    <a:solidFill>
                      <a:srgbClr val="EAEDF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Verdana"/>
                        </a:rPr>
                        <a:t>Internet Dependency</a:t>
                      </a:r>
                    </a:p>
                  </a:txBody>
                  <a:tcPr marT="101600" marB="101600" marL="127000" marR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Verdana"/>
                        </a:rPr>
                        <a:t>Works fully offline. Requires zero network connection or internet bandwidth once model is downloaded.</a:t>
                      </a:r>
                    </a:p>
                  </a:txBody>
                  <a:tcPr marT="101600" marB="101600" marL="127000" marR="127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64748B"/>
                          </a:solidFill>
                          <a:latin typeface="Verdana"/>
                        </a:rPr>
                        <a:t>Mandatory stable internet connection. Network outages completely disconnect service and drop users.</a:t>
                      </a:r>
                    </a:p>
                  </a:txBody>
                  <a:tcPr marT="101600" marB="101600" marL="127000" marR="127000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  <a:latin typeface="Verdana"/>
                        </a:rPr>
                        <a:t>Control &amp; Latency</a:t>
                      </a:r>
                    </a:p>
                  </a:txBody>
                  <a:tcPr marT="101600" marB="101600" marL="127000" marR="127000">
                    <a:solidFill>
                      <a:srgbClr val="EA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Verdana"/>
                        </a:rPr>
                        <a:t>Consistent execution speeds, custom parameter bounds, and complete resistance to provider model deprecations.</a:t>
                      </a:r>
                    </a:p>
                  </a:txBody>
                  <a:tcPr marT="101600" marB="101600" marL="127000" marR="127000">
                    <a:solidFill>
                      <a:srgbClr val="EAED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64748B"/>
                          </a:solidFill>
                          <a:latin typeface="Verdana"/>
                        </a:rPr>
                        <a:t>Vulnerable to external API latency, rate limits, server downtimes, and sudden upstream model updates.</a:t>
                      </a:r>
                    </a:p>
                  </a:txBody>
                  <a:tcPr marT="101600" marB="101600" marL="127000" marR="127000">
                    <a:solidFill>
                      <a:srgbClr val="EAED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Verdana"/>
              </a:defRPr>
            </a:pPr>
            <a:r>
              <a:t>ROADMAP &amp;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789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Georgia"/>
              </a:defRPr>
            </a:pPr>
            <a:r>
              <a:t>Four Enhancements Transition Your Local App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2327" y="182880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28600" rIns="22860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01. Memory</a:t>
            </a:r>
          </a:p>
          <a:p>
            <a:pPr>
              <a:spcAft>
                <a:spcPts val="1400"/>
              </a:spcAft>
              <a:defRPr sz="850" b="1">
                <a:solidFill>
                  <a:srgbClr val="10B981"/>
                </a:solidFill>
                <a:latin typeface="Verdana"/>
              </a:defRPr>
            </a:pPr>
            <a:r>
              <a:t>CHAT HISTORY INTEGRATION</a:t>
            </a:r>
          </a:p>
          <a:p>
            <a:pPr>
              <a:spcAft>
                <a:spcPts val="1000"/>
              </a:spcAft>
              <a:defRPr>
                <a:solidFill>
                  <a:srgbClr val="10B981"/>
                </a:solidFill>
              </a:defRPr>
            </a:pPr>
            <a:r>
              <a:t>—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Add LangChain's conversational memory wrapper. Lets the chatbot retain context across multi-turn exchanges instead of processing every message as an isolated query.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9807" y="182880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28600" rIns="22860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02. Streaming</a:t>
            </a:r>
          </a:p>
          <a:p>
            <a:pPr>
              <a:spcAft>
                <a:spcPts val="1400"/>
              </a:spcAft>
              <a:defRPr sz="850" b="1">
                <a:solidFill>
                  <a:srgbClr val="10B981"/>
                </a:solidFill>
                <a:latin typeface="Verdana"/>
              </a:defRPr>
            </a:pPr>
            <a:r>
              <a:t>TOKEN-BY-TOKEN RESPONSES</a:t>
            </a:r>
          </a:p>
          <a:p>
            <a:pPr>
              <a:spcAft>
                <a:spcPts val="1000"/>
              </a:spcAft>
              <a:defRPr>
                <a:solidFill>
                  <a:srgbClr val="10B981"/>
                </a:solidFill>
              </a:defRPr>
            </a:pPr>
            <a:r>
              <a:t>—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Switch from sync invocation to streaming with st.write_stream(). Prints output dynamically as Ollama generates it, providing a fluid chat UX.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287" y="182880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28600" rIns="22860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03. Feedback UI</a:t>
            </a:r>
          </a:p>
          <a:p>
            <a:pPr>
              <a:spcAft>
                <a:spcPts val="1400"/>
              </a:spcAft>
              <a:defRPr sz="850" b="1">
                <a:solidFill>
                  <a:srgbClr val="10B981"/>
                </a:solidFill>
                <a:latin typeface="Verdana"/>
              </a:defRPr>
            </a:pPr>
            <a:r>
              <a:t>SPINNER &amp; THINKING STATES</a:t>
            </a:r>
          </a:p>
          <a:p>
            <a:pPr>
              <a:spcAft>
                <a:spcPts val="1000"/>
              </a:spcAft>
              <a:defRPr>
                <a:solidFill>
                  <a:srgbClr val="10B981"/>
                </a:solidFill>
              </a:defRPr>
            </a:pPr>
            <a:r>
              <a:t>—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Wrap execution inside a 'with st.spinner("Thinking...")' block. Provides active UI feedback while the local model does intensive computing.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84767" y="1828800"/>
            <a:ext cx="251460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40000" dist="20000" dir="540000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28600" rIns="228600" bIns="274320"/>
          <a:lstStyle/>
          <a:p>
            <a:pPr algn="ctr">
              <a:spcAft>
                <a:spcPts val="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t>04. Model Select</a:t>
            </a:r>
          </a:p>
          <a:p>
            <a:pPr>
              <a:spcAft>
                <a:spcPts val="1400"/>
              </a:spcAft>
              <a:defRPr sz="850" b="1">
                <a:solidFill>
                  <a:srgbClr val="10B981"/>
                </a:solidFill>
                <a:latin typeface="Verdana"/>
              </a:defRPr>
            </a:pPr>
            <a:r>
              <a:t>MULTI-LLM PLAYGROUND</a:t>
            </a:r>
          </a:p>
          <a:p>
            <a:pPr>
              <a:spcAft>
                <a:spcPts val="1000"/>
              </a:spcAft>
              <a:defRPr>
                <a:solidFill>
                  <a:srgbClr val="10B981"/>
                </a:solidFill>
              </a:defRPr>
            </a:pPr>
            <a:r>
              <a:t>—</a:t>
            </a:r>
          </a:p>
          <a:p>
            <a:pPr>
              <a:defRPr sz="1100">
                <a:solidFill>
                  <a:srgbClr val="64748B"/>
                </a:solidFill>
                <a:latin typeface="Verdana"/>
              </a:defRPr>
            </a:pPr>
            <a:r>
              <a:t>Add a sidebar widget like st.sidebar.selectbox(). Lets developers hot-swap models like Gemma 2, Llama 3, or Mistral instantly at runtime.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